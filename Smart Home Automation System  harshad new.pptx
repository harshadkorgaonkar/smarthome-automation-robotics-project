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50" d="100"/>
          <a:sy n="50" d="100"/>
        </p:scale>
        <p:origin x="149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66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82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0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0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9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1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0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8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4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6AA40-4927-49C5-A513-69F9C93CE97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90E84-FCFF-4F66-BA79-D9AA86072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7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5694" y="759107"/>
            <a:ext cx="9144000" cy="43627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Smart Home Automation System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1704109"/>
            <a:ext cx="9615055" cy="473825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b="1" dirty="0" smtClean="0"/>
              <a:t>Project Components and Features</a:t>
            </a:r>
          </a:p>
          <a:p>
            <a:pPr algn="l"/>
            <a:r>
              <a:rPr lang="en-US" b="1" dirty="0" smtClean="0"/>
              <a:t>         Solar Tracking System:</a:t>
            </a:r>
            <a:endParaRPr lang="en-US" dirty="0" smtClean="0"/>
          </a:p>
          <a:p>
            <a:pPr lvl="1" algn="l"/>
            <a:r>
              <a:rPr lang="en-US" dirty="0" smtClean="0"/>
              <a:t>Uses LDR sensors and Arduino to adjust solar panels for maximum sunlight absorption, improving energy efficiency.</a:t>
            </a:r>
          </a:p>
          <a:p>
            <a:pPr algn="l"/>
            <a:r>
              <a:rPr lang="en-US" b="1" dirty="0" smtClean="0"/>
              <a:t>         Automatic Parking Gate:</a:t>
            </a:r>
            <a:endParaRPr lang="en-US" dirty="0" smtClean="0"/>
          </a:p>
          <a:p>
            <a:pPr lvl="1" algn="l"/>
            <a:r>
              <a:rPr lang="en-US" dirty="0" smtClean="0"/>
              <a:t>Arduino-based system automatically opens the parking gate, ensuring hassle-free vehicle entry and exit.</a:t>
            </a:r>
          </a:p>
          <a:p>
            <a:pPr algn="l"/>
            <a:r>
              <a:rPr lang="en-US" b="1" dirty="0" smtClean="0"/>
              <a:t>         RFID-Based Door Access:</a:t>
            </a:r>
            <a:endParaRPr lang="en-US" dirty="0" smtClean="0"/>
          </a:p>
          <a:p>
            <a:pPr lvl="1" algn="l"/>
            <a:r>
              <a:rPr lang="en-US" dirty="0" smtClean="0"/>
              <a:t>RFID sensor enables secure and contactless door opening, enhancing security.</a:t>
            </a:r>
          </a:p>
          <a:p>
            <a:pPr algn="l"/>
            <a:r>
              <a:rPr lang="en-US" b="1" dirty="0" smtClean="0"/>
              <a:t>         Soil Moisture Sensor for Planting:</a:t>
            </a:r>
            <a:endParaRPr lang="en-US" dirty="0" smtClean="0"/>
          </a:p>
          <a:p>
            <a:pPr lvl="1" algn="l"/>
            <a:r>
              <a:rPr lang="en-US" dirty="0" smtClean="0"/>
              <a:t>Monitors soil moisture levels and automates irrigation, ensuring optimal plant growth.</a:t>
            </a:r>
          </a:p>
          <a:p>
            <a:pPr algn="l"/>
            <a:r>
              <a:rPr lang="en-US" b="1" dirty="0" smtClean="0"/>
              <a:t>         Automatic Street Lighting:</a:t>
            </a:r>
            <a:endParaRPr lang="en-US" dirty="0" smtClean="0"/>
          </a:p>
          <a:p>
            <a:pPr lvl="1" algn="l"/>
            <a:r>
              <a:rPr lang="en-US" dirty="0" smtClean="0"/>
              <a:t>LDR sensor controls street lights based on ambient light, reducing energy wastage.</a:t>
            </a:r>
          </a:p>
          <a:p>
            <a:pPr algn="l"/>
            <a:r>
              <a:rPr lang="en-US" b="1" dirty="0" smtClean="0"/>
              <a:t>         Study Room Fire Safety System:</a:t>
            </a:r>
            <a:endParaRPr lang="en-US" dirty="0" smtClean="0"/>
          </a:p>
          <a:p>
            <a:pPr lvl="1" algn="l"/>
            <a:r>
              <a:rPr lang="en-US" dirty="0" smtClean="0"/>
              <a:t>Flame sensor detects fire, triggering a buzzer alert to prevent hazards.</a:t>
            </a:r>
          </a:p>
          <a:p>
            <a:pPr algn="l"/>
            <a:r>
              <a:rPr lang="en-US" b="1" dirty="0" smtClean="0"/>
              <a:t>         Smoke Detection System:</a:t>
            </a:r>
            <a:endParaRPr lang="en-US" dirty="0" smtClean="0"/>
          </a:p>
          <a:p>
            <a:pPr lvl="1" algn="l"/>
            <a:r>
              <a:rPr lang="en-US" dirty="0" smtClean="0"/>
              <a:t>Smoke sensor and red LED warn users of potential fire hazards for enhanced safety.</a:t>
            </a:r>
          </a:p>
          <a:p>
            <a:pPr algn="l"/>
            <a:r>
              <a:rPr lang="en-US" b="1" dirty="0" smtClean="0"/>
              <a:t>         Bookshelf IR Sensor Lighting:</a:t>
            </a:r>
            <a:endParaRPr lang="en-US" dirty="0" smtClean="0"/>
          </a:p>
          <a:p>
            <a:pPr lvl="1" algn="l"/>
            <a:r>
              <a:rPr lang="en-US" dirty="0" smtClean="0"/>
              <a:t>IR sensor activates bookshelf lighting upon motion detection, improving accessibility.</a:t>
            </a:r>
          </a:p>
          <a:p>
            <a:pPr lvl="1" algn="l"/>
            <a:r>
              <a:rPr lang="en-US" sz="2600" b="1" dirty="0" smtClean="0"/>
              <a:t>Rain Drop Module:</a:t>
            </a:r>
          </a:p>
          <a:p>
            <a:pPr lvl="1" algn="l"/>
            <a:r>
              <a:rPr lang="en-US" sz="1900" dirty="0" smtClean="0"/>
              <a:t>Protect cloths from Rain to save laundry cost</a:t>
            </a:r>
          </a:p>
          <a:p>
            <a:pPr lvl="1" algn="l"/>
            <a:endParaRPr lang="en-US" dirty="0" smtClean="0"/>
          </a:p>
          <a:p>
            <a:pPr lvl="1" algn="l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0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17377"/>
            <a:ext cx="8783782" cy="42458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Real-Life Advantages of Smart Home Automation System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075988"/>
            <a:ext cx="1013521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Efficiency: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 tracking system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maximizes energy absorption, reducing electricity bills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street lighting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turns on/off based on ambient light, preventing energy wastage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and Safety: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RFID-based door access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secure and keyless entry.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Smoke and flame sensors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fire hazards early, preventing major accidents.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parking gate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the need for manual operation, enhancing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Convenience and Comfort: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Bookshelf IR sensor lighting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hands-free illumination.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Soil moisture sensor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automates plant watering, ensuring healthy plants without manual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 drop module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detects rain and helps protect clothes from getting wet.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and Smart Living: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 and Arduino-based controls automate daily tasks, making home management effortless.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human intervention and enhances the overall living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Savings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 smtClean="0">
                <a:latin typeface="Arial" panose="020B0604020202020204" pitchFamily="34" charset="0"/>
              </a:rPr>
              <a:t>……100 % solar powered system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automation reduces electricity and maintenance costs in the long run.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damage from fire hazards, saving repair expenses.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52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23811" cy="274955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Cost-Benefit Analysis of Smart Home Automation for the Middle Class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9746766"/>
              </p:ext>
            </p:extLst>
          </p:nvPr>
        </p:nvGraphicFramePr>
        <p:xfrm>
          <a:off x="838200" y="1185545"/>
          <a:ext cx="8321040" cy="5032476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  <a:gridCol w="2080260"/>
                <a:gridCol w="2080260"/>
              </a:tblGrid>
              <a:tr h="371642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Implementation Cost (₹)</a:t>
                      </a:r>
                      <a:endParaRPr lang="en-US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Savings / Benefits</a:t>
                      </a:r>
                      <a:endParaRPr lang="en-US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Annual Savings (₹)</a:t>
                      </a:r>
                      <a:endParaRPr lang="en-US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576">
                <a:tc>
                  <a:txBody>
                    <a:bodyPr/>
                    <a:lstStyle/>
                    <a:p>
                      <a:r>
                        <a:rPr lang="en-US" sz="1400" b="1" dirty="0"/>
                        <a:t>Solar Tracking System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₹5,000 – ₹10,000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Reduces electricity bills by </a:t>
                      </a:r>
                      <a:r>
                        <a:rPr lang="en-US" sz="1400" b="1" dirty="0" smtClean="0"/>
                        <a:t>100%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₹24,000 </a:t>
                      </a:r>
                      <a:r>
                        <a:rPr lang="en-US" sz="1400" dirty="0"/>
                        <a:t>– </a:t>
                      </a:r>
                      <a:r>
                        <a:rPr lang="en-US" sz="1400" dirty="0" smtClean="0"/>
                        <a:t>₹60,000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576">
                <a:tc>
                  <a:txBody>
                    <a:bodyPr/>
                    <a:lstStyle/>
                    <a:p>
                      <a:r>
                        <a:rPr lang="en-US" sz="1400" b="1" dirty="0"/>
                        <a:t>Automatic Parking Gate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₹3,000 – ₹7,000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Save</a:t>
                      </a:r>
                      <a:r>
                        <a:rPr lang="en-US" sz="1400" baseline="0" dirty="0" smtClean="0"/>
                        <a:t> Human Efforts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₹20,00</a:t>
                      </a:r>
                      <a:r>
                        <a:rPr lang="en-US" sz="1400" baseline="0" dirty="0" smtClean="0"/>
                        <a:t> security guard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1510">
                <a:tc>
                  <a:txBody>
                    <a:bodyPr/>
                    <a:lstStyle/>
                    <a:p>
                      <a:r>
                        <a:rPr lang="en-US" sz="1400" b="1" dirty="0"/>
                        <a:t>RFID-Based Door Access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₹2,000 – ₹4,000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Secure keyless entry (80% cheaper than biometric)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₹5,000 – ₹10,000 (compared to biometric)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576">
                <a:tc>
                  <a:txBody>
                    <a:bodyPr/>
                    <a:lstStyle/>
                    <a:p>
                      <a:r>
                        <a:rPr lang="en-US" sz="1400" b="1" dirty="0"/>
                        <a:t>Soil Moisture Sensor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₹1,000 – ₹2,000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Saves </a:t>
                      </a:r>
                      <a:r>
                        <a:rPr lang="en-US" sz="1400" b="1" dirty="0"/>
                        <a:t>40%</a:t>
                      </a:r>
                      <a:r>
                        <a:rPr lang="en-US" sz="1400" dirty="0"/>
                        <a:t> water &amp; reduces manual effort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₹2,000 – ₹5,000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642">
                <a:tc>
                  <a:txBody>
                    <a:bodyPr/>
                    <a:lstStyle/>
                    <a:p>
                      <a:r>
                        <a:rPr lang="en-US" sz="1400" b="1" dirty="0"/>
                        <a:t>Automatic Street Lighting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₹1,500 – ₹3,000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Saves </a:t>
                      </a:r>
                      <a:r>
                        <a:rPr lang="en-US" sz="1400" b="1" dirty="0"/>
                        <a:t>10-20%</a:t>
                      </a:r>
                      <a:r>
                        <a:rPr lang="en-US" sz="1400" dirty="0"/>
                        <a:t> electricity costs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₹3,000 – ₹7,000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1444">
                <a:tc>
                  <a:txBody>
                    <a:bodyPr/>
                    <a:lstStyle/>
                    <a:p>
                      <a:r>
                        <a:rPr lang="en-US" sz="1400" b="1" dirty="0"/>
                        <a:t>Flame &amp; Smoke Sensors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₹2,500 – ₹5,000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Reduces fire hazards by </a:t>
                      </a:r>
                      <a:r>
                        <a:rPr lang="en-US" sz="1400" b="1" dirty="0"/>
                        <a:t>70%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Prevents property loss (₹50,000+ potential savings)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642">
                <a:tc>
                  <a:txBody>
                    <a:bodyPr/>
                    <a:lstStyle/>
                    <a:p>
                      <a:r>
                        <a:rPr lang="en-US" sz="1400" b="1"/>
                        <a:t>Bookshelf IR Sensor Lighting</a:t>
                      </a:r>
                      <a:endParaRPr lang="en-US" sz="14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₹1,000 – ₹2,000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Hands-free </a:t>
                      </a:r>
                      <a:r>
                        <a:rPr lang="en-US" sz="1400" dirty="0" smtClean="0"/>
                        <a:t>automation</a:t>
                      </a:r>
                    </a:p>
                    <a:p>
                      <a:r>
                        <a:rPr lang="en-US" sz="1400" dirty="0" smtClean="0"/>
                        <a:t>No</a:t>
                      </a:r>
                      <a:r>
                        <a:rPr lang="en-US" sz="1400" baseline="0" dirty="0" smtClean="0"/>
                        <a:t> electricity wastage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₹1,500 – ₹</a:t>
                      </a:r>
                      <a:r>
                        <a:rPr lang="en-US" sz="1400" dirty="0" smtClean="0"/>
                        <a:t>3,000 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576">
                <a:tc>
                  <a:txBody>
                    <a:bodyPr/>
                    <a:lstStyle/>
                    <a:p>
                      <a:r>
                        <a:rPr lang="en-US" sz="1400" b="1" dirty="0"/>
                        <a:t>Rain Drop Module</a:t>
                      </a:r>
                      <a:endParaRPr lang="en-US" sz="14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₹1,500 – ₹3,000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Protects clothes, reducing laundry costs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₹500 – ₹1,500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13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248650" cy="39687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Total Cost &amp; Savings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7700" y="1212208"/>
            <a:ext cx="11010900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Investment: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₹17,500 – ₹36,000 (for a single home)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Savings: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₹25,000 – ₹70,000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Payback Period: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1-2 years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after which all savings become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/>
              <a:t> </a:t>
            </a:r>
            <a:r>
              <a:rPr lang="en-US" sz="2000" dirty="0"/>
              <a:t>typical middle-class household in India consumes </a:t>
            </a:r>
            <a:r>
              <a:rPr lang="en-US" sz="2000" b="1" dirty="0"/>
              <a:t>200 to 400 units (kilowatt-hours or kWh)</a:t>
            </a:r>
            <a:r>
              <a:rPr lang="en-US" sz="2000" dirty="0"/>
              <a:t> per month</a:t>
            </a:r>
            <a:r>
              <a:rPr 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Smart Home with 100% Solar Power Consumption</a:t>
            </a:r>
            <a:r>
              <a:rPr lang="en-US" sz="1800" dirty="0" smtClean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savings of </a:t>
            </a:r>
            <a:r>
              <a:rPr lang="en-US" sz="1800" b="1" dirty="0"/>
              <a:t>₹2,000 - ₹5,000 per </a:t>
            </a:r>
            <a:r>
              <a:rPr lang="en-US" sz="1800" b="1" dirty="0" smtClean="0"/>
              <a:t>month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b="1" dirty="0" smtClean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switching to </a:t>
            </a:r>
            <a:r>
              <a:rPr lang="en-US" sz="1800" b="1" dirty="0"/>
              <a:t>100% solar energy</a:t>
            </a:r>
            <a:r>
              <a:rPr lang="en-US" sz="1800" dirty="0"/>
              <a:t>, you could effectively eliminate your electricity bill while also contributing to environmental sustainability.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9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26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Protection of Smart Home Automation System from Water &amp; Natural Factors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1) </a:t>
            </a:r>
            <a:r>
              <a:rPr lang="en-US" sz="1600" b="1" dirty="0" smtClean="0"/>
              <a:t>Waterproof Enclosures</a:t>
            </a:r>
            <a:r>
              <a:rPr lang="en-US" sz="1600" dirty="0" smtClean="0"/>
              <a:t> – Use </a:t>
            </a:r>
            <a:r>
              <a:rPr lang="en-US" sz="1600" b="1" dirty="0" smtClean="0"/>
              <a:t>IP65/IP67-rated</a:t>
            </a:r>
            <a:r>
              <a:rPr lang="en-US" sz="1600" dirty="0" smtClean="0"/>
              <a:t> waterproof boxes for Arduino, sensors, and wiring to prevent water damage.</a:t>
            </a:r>
          </a:p>
          <a:p>
            <a:r>
              <a:rPr lang="en-US" sz="1600" dirty="0" smtClean="0"/>
              <a:t>2) </a:t>
            </a:r>
            <a:r>
              <a:rPr lang="en-US" sz="1600" b="1" dirty="0" smtClean="0"/>
              <a:t>Weatherproof Sensors</a:t>
            </a:r>
            <a:r>
              <a:rPr lang="en-US" sz="1600" dirty="0" smtClean="0"/>
              <a:t> – Install </a:t>
            </a:r>
            <a:r>
              <a:rPr lang="en-US" sz="1600" b="1" dirty="0" smtClean="0"/>
              <a:t>coated or sealed sensors</a:t>
            </a:r>
            <a:r>
              <a:rPr lang="en-US" sz="1600" dirty="0" smtClean="0"/>
              <a:t> (e.g., waterproof LDRs, soil moisture sensors with protective casing) to withstand rain and dust.</a:t>
            </a:r>
          </a:p>
          <a:p>
            <a:r>
              <a:rPr lang="en-US" sz="1600" dirty="0" smtClean="0"/>
              <a:t>3) </a:t>
            </a:r>
            <a:r>
              <a:rPr lang="en-US" sz="1600" b="1" dirty="0" smtClean="0"/>
              <a:t>Proper Wiring &amp; Insulation</a:t>
            </a:r>
            <a:r>
              <a:rPr lang="en-US" sz="1600" dirty="0" smtClean="0"/>
              <a:t> – Use </a:t>
            </a:r>
            <a:r>
              <a:rPr lang="en-US" sz="1600" b="1" dirty="0" smtClean="0"/>
              <a:t>PVC conduit pipes</a:t>
            </a:r>
            <a:r>
              <a:rPr lang="en-US" sz="1600" dirty="0" smtClean="0"/>
              <a:t> and </a:t>
            </a:r>
            <a:r>
              <a:rPr lang="en-US" sz="1600" b="1" dirty="0" smtClean="0"/>
              <a:t>heat-shrink tubing</a:t>
            </a:r>
            <a:r>
              <a:rPr lang="en-US" sz="1600" dirty="0" smtClean="0"/>
              <a:t> to cover electrical wiring and prevent short circuits.</a:t>
            </a:r>
          </a:p>
          <a:p>
            <a:r>
              <a:rPr lang="en-US" sz="1600" dirty="0" smtClean="0"/>
              <a:t>4</a:t>
            </a:r>
            <a:r>
              <a:rPr lang="en-US" sz="1600" dirty="0" smtClean="0"/>
              <a:t>) </a:t>
            </a:r>
            <a:r>
              <a:rPr lang="en-US" sz="1600" b="1" dirty="0" smtClean="0"/>
              <a:t>Elevated </a:t>
            </a:r>
            <a:r>
              <a:rPr lang="en-US" sz="1600" b="1" dirty="0" smtClean="0"/>
              <a:t>Installation</a:t>
            </a:r>
            <a:r>
              <a:rPr lang="en-US" sz="1600" dirty="0" smtClean="0"/>
              <a:t> – Mount </a:t>
            </a:r>
            <a:r>
              <a:rPr lang="en-US" sz="1600" b="1" dirty="0" smtClean="0"/>
              <a:t>sensors and controllers at a higher level</a:t>
            </a:r>
            <a:r>
              <a:rPr lang="en-US" sz="1600" dirty="0" smtClean="0"/>
              <a:t> to prevent waterlogging issues, especially for soil and rain sensors.</a:t>
            </a:r>
          </a:p>
          <a:p>
            <a:r>
              <a:rPr lang="en-US" sz="1600" dirty="0" smtClean="0"/>
              <a:t>5) </a:t>
            </a:r>
            <a:r>
              <a:rPr lang="en-US" sz="1600" b="1" dirty="0" smtClean="0"/>
              <a:t>Corrosion-Resistant Materials</a:t>
            </a:r>
            <a:r>
              <a:rPr lang="en-US" sz="1600" dirty="0" smtClean="0"/>
              <a:t> – Use </a:t>
            </a:r>
            <a:r>
              <a:rPr lang="en-US" sz="1600" b="1" dirty="0" smtClean="0"/>
              <a:t>stainless steel screws, aluminum casings, and anti-rust coatings</a:t>
            </a:r>
            <a:r>
              <a:rPr lang="en-US" sz="1600" dirty="0" smtClean="0"/>
              <a:t> to protect exposed parts.</a:t>
            </a:r>
          </a:p>
          <a:p>
            <a:r>
              <a:rPr lang="en-US" sz="1600" dirty="0" smtClean="0"/>
              <a:t>6) </a:t>
            </a:r>
            <a:r>
              <a:rPr lang="en-US" sz="1600" b="1" dirty="0" smtClean="0"/>
              <a:t>Drainage &amp; Ventilation</a:t>
            </a:r>
            <a:r>
              <a:rPr lang="en-US" sz="1600" dirty="0" smtClean="0"/>
              <a:t> – Ensure </a:t>
            </a:r>
            <a:r>
              <a:rPr lang="en-US" sz="1600" b="1" dirty="0" smtClean="0"/>
              <a:t>proper water drainage</a:t>
            </a:r>
            <a:r>
              <a:rPr lang="en-US" sz="1600" dirty="0" smtClean="0"/>
              <a:t> near installations to avoid moisture buildup while keeping ventilation for heat dissipation.</a:t>
            </a:r>
          </a:p>
          <a:p>
            <a:r>
              <a:rPr lang="en-US" sz="1600" dirty="0" smtClean="0"/>
              <a:t>7) </a:t>
            </a:r>
            <a:r>
              <a:rPr lang="en-US" sz="1600" b="1" dirty="0" smtClean="0"/>
              <a:t>UV &amp; Temperature Protection</a:t>
            </a:r>
            <a:r>
              <a:rPr lang="en-US" sz="1600" dirty="0" smtClean="0"/>
              <a:t> – Cover outdoor electronics with </a:t>
            </a:r>
            <a:r>
              <a:rPr lang="en-US" sz="1600" b="1" dirty="0" smtClean="0"/>
              <a:t>UV-resistant acrylic sheets or shaded enclosures</a:t>
            </a:r>
            <a:r>
              <a:rPr lang="en-US" sz="1600" dirty="0" smtClean="0"/>
              <a:t> to prevent overheating.</a:t>
            </a:r>
          </a:p>
          <a:p>
            <a:r>
              <a:rPr lang="en-US" sz="1600" dirty="0" smtClean="0"/>
              <a:t>8) </a:t>
            </a:r>
            <a:r>
              <a:rPr lang="en-US" sz="1600" b="1" dirty="0" smtClean="0"/>
              <a:t>Regular Maintenance</a:t>
            </a:r>
            <a:r>
              <a:rPr lang="en-US" sz="1600" dirty="0" smtClean="0"/>
              <a:t> – Periodically check for </a:t>
            </a:r>
            <a:r>
              <a:rPr lang="en-US" sz="1600" b="1" dirty="0" smtClean="0"/>
              <a:t>loose connections, rust, or water leaks</a:t>
            </a:r>
            <a:r>
              <a:rPr lang="en-US" sz="1600" dirty="0" smtClean="0"/>
              <a:t> and apply protective coatings when necessary.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94181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832</Words>
  <Application>Microsoft Office PowerPoint</Application>
  <PresentationFormat>Widescreen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Smart Home Automation System</vt:lpstr>
      <vt:lpstr>Real-Life Advantages of Smart Home Automation System</vt:lpstr>
      <vt:lpstr>Cost-Benefit Analysis of Smart Home Automation for the Middle Class</vt:lpstr>
      <vt:lpstr>Total Cost &amp; Savings</vt:lpstr>
      <vt:lpstr>Protection of Smart Home Automation System from Water &amp; Natural Factors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Automation System</dc:title>
  <dc:creator>UG-43</dc:creator>
  <cp:lastModifiedBy>Microsoft account</cp:lastModifiedBy>
  <cp:revision>10</cp:revision>
  <dcterms:created xsi:type="dcterms:W3CDTF">2025-02-13T04:51:28Z</dcterms:created>
  <dcterms:modified xsi:type="dcterms:W3CDTF">2025-02-13T12:39:45Z</dcterms:modified>
</cp:coreProperties>
</file>